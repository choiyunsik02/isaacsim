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12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6788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10167" y="377647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439351" y="377647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9768535" y="377647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097719" y="377647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426903" y="377647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756087" y="377647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1085271" y="377647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1414455" y="377647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110167" y="410565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439351" y="410565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9768535" y="410565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097719" y="410565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426903" y="410565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756087" y="410565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1085271" y="410565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1414455" y="410565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9110167" y="443484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9439351" y="443484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9768535" y="443484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0097719" y="443484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0426903" y="443484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10756087" y="443484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11085271" y="443484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11414455" y="443484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110167" y="4764024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9439351" y="4764024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9768535" y="4764024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10097719" y="4764024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0426903" y="4764024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0756087" y="4764024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1085271" y="4764024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1414455" y="4764024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9110167" y="509320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9439351" y="509320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9768535" y="509320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0097719" y="509320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0426903" y="509320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10756087" y="509320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085271" y="509320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11414455" y="5093208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9110167" y="542239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9439351" y="542239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9768535" y="542239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10097719" y="542239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10426903" y="542239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10756087" y="542239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11085271" y="542239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11414455" y="5422392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9110167" y="575157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0B981">
              <a:alpha val="2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9439351" y="575157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0B981">
              <a:alpha val="2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9768535" y="575157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0B981">
              <a:alpha val="2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10097719" y="575157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0B981">
              <a:alpha val="2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0426903" y="575157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0B981">
              <a:alpha val="2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10756087" y="575157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0B981">
              <a:alpha val="2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11085271" y="575157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0B981">
              <a:alpha val="2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11414455" y="5751576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0B981">
              <a:alpha val="2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9110167" y="608076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0B981">
              <a:alpha val="2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9439351" y="608076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0B981">
              <a:alpha val="2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9768535" y="608076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0B981">
              <a:alpha val="2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10097719" y="608076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0B981">
              <a:alpha val="2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10426903" y="608076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0B981">
              <a:alpha val="2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10756087" y="608076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0B981">
              <a:alpha val="2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11085271" y="608076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0B981">
              <a:alpha val="2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11414455" y="6080760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10B981">
              <a:alpha val="22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/>
          <p:nvPr/>
        </p:nvSpPr>
        <p:spPr>
          <a:xfrm>
            <a:off x="64008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 SIM SIMULATION  ·  CODE &amp; TEST ANALYSIS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594360" y="182880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VL53L8CX 8×8 ToF 기반 </a:t>
            </a:r>
            <a:endParaRPr lang="en-US" sz="4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낙상 감지 휠체어 </a:t>
            </a:r>
            <a:endParaRPr lang="en-US" sz="44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자율 회피 네비게이션</a:t>
            </a:r>
            <a:endParaRPr lang="en-US" sz="4400" dirty="0"/>
          </a:p>
        </p:txBody>
      </p:sp>
      <p:sp>
        <p:nvSpPr>
          <p:cNvPr id="68" name="Text 66"/>
          <p:cNvSpPr/>
          <p:nvPr/>
        </p:nvSpPr>
        <p:spPr>
          <a:xfrm>
            <a:off x="621792" y="3977640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전방 45° 장착된 ToF 센서로 바닥을 선제적으로 스캔하여 계단·낙차를 감지하고,</a:t>
            </a:r>
            <a:endParaRPr lang="en-US" sz="14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정지→후진→우회→하강까지 자율적으로 수행하는 상태머신 기반 내비게이션 로직 분석</a:t>
            </a:r>
            <a:endParaRPr lang="en-US" sz="1450" dirty="0"/>
          </a:p>
        </p:txBody>
      </p:sp>
      <p:sp>
        <p:nvSpPr>
          <p:cNvPr id="69" name="Shape 67"/>
          <p:cNvSpPr/>
          <p:nvPr/>
        </p:nvSpPr>
        <p:spPr>
          <a:xfrm>
            <a:off x="621792" y="5074920"/>
            <a:ext cx="914400" cy="20117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/>
          <p:nvPr/>
        </p:nvSpPr>
        <p:spPr>
          <a:xfrm>
            <a:off x="621792" y="52852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최윤식  </a:t>
            </a: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(2101091)</a:t>
            </a:r>
            <a:endParaRPr lang="en-US" sz="1500" dirty="0"/>
          </a:p>
        </p:txBody>
      </p:sp>
      <p:sp>
        <p:nvSpPr>
          <p:cNvPr id="71" name="Text 69"/>
          <p:cNvSpPr/>
          <p:nvPr/>
        </p:nvSpPr>
        <p:spPr>
          <a:xfrm>
            <a:off x="621792" y="560527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군산대학교 임베디드소프트웨어공학과</a:t>
            </a:r>
            <a:endParaRPr lang="en-US" sz="1250" dirty="0"/>
          </a:p>
        </p:txBody>
      </p:sp>
      <p:sp>
        <p:nvSpPr>
          <p:cNvPr id="72" name="Text 70"/>
          <p:cNvSpPr/>
          <p:nvPr/>
        </p:nvSpPr>
        <p:spPr>
          <a:xfrm>
            <a:off x="10180015" y="5989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목차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969264"/>
          </a:xfrm>
          <a:prstGeom prst="roundRect">
            <a:avLst>
              <a:gd name="adj" fmla="val 6604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04672" y="1783080"/>
            <a:ext cx="914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72768" y="1819656"/>
            <a:ext cx="4105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목적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572768" y="2203704"/>
            <a:ext cx="4105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이 시스템이 필요한가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807208"/>
            <a:ext cx="5349240" cy="969264"/>
          </a:xfrm>
          <a:prstGeom prst="roundRect">
            <a:avLst>
              <a:gd name="adj" fmla="val 6604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04672" y="2898648"/>
            <a:ext cx="914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572768" y="2935224"/>
            <a:ext cx="4105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구성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572768" y="3319272"/>
            <a:ext cx="4105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환경 · 로봇 · 전체 파이프라인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922776"/>
            <a:ext cx="5349240" cy="969264"/>
          </a:xfrm>
          <a:prstGeom prst="roundRect">
            <a:avLst>
              <a:gd name="adj" fmla="val 6604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04672" y="4014216"/>
            <a:ext cx="914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572768" y="4050792"/>
            <a:ext cx="4105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ToF 센서 설계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572768" y="4434840"/>
            <a:ext cx="4105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8×8 레이캐스트 구조와 파라미터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038344"/>
            <a:ext cx="5349240" cy="969264"/>
          </a:xfrm>
          <a:prstGeom prst="roundRect">
            <a:avLst>
              <a:gd name="adj" fmla="val 6604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04672" y="5129784"/>
            <a:ext cx="914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572768" y="5166360"/>
            <a:ext cx="4105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낙상 판정 알고리즘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572768" y="5550408"/>
            <a:ext cx="4105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Ratio · Baseline EMA 로직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1691640"/>
            <a:ext cx="5349240" cy="969264"/>
          </a:xfrm>
          <a:prstGeom prst="roundRect">
            <a:avLst>
              <a:gd name="adj" fmla="val 6604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6473952" y="1783080"/>
            <a:ext cx="914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242048" y="1819656"/>
            <a:ext cx="4105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상태머신 블록도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242048" y="2203704"/>
            <a:ext cx="4105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8단계 FSM 전체 흐름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2807208"/>
            <a:ext cx="5349240" cy="969264"/>
          </a:xfrm>
          <a:prstGeom prst="roundRect">
            <a:avLst>
              <a:gd name="adj" fmla="val 6604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6473952" y="2898648"/>
            <a:ext cx="914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242048" y="2935224"/>
            <a:ext cx="4105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 &amp; 로그 시스템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7242048" y="3319272"/>
            <a:ext cx="4105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이중언어 설계와 색상 규칙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3922776"/>
            <a:ext cx="5349240" cy="969264"/>
          </a:xfrm>
          <a:prstGeom prst="roundRect">
            <a:avLst>
              <a:gd name="adj" fmla="val 6604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6473952" y="4014216"/>
            <a:ext cx="914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7242048" y="4050792"/>
            <a:ext cx="4105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시뮬레이션 검증 결과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7242048" y="4434840"/>
            <a:ext cx="4105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 Sim 실제 테스트 영상 분석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17920" y="5038344"/>
            <a:ext cx="5349240" cy="969264"/>
          </a:xfrm>
          <a:prstGeom prst="roundRect">
            <a:avLst>
              <a:gd name="adj" fmla="val 6604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473952" y="5129784"/>
            <a:ext cx="9144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7242048" y="5166360"/>
            <a:ext cx="4105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 및 향후 계획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7242048" y="5550408"/>
            <a:ext cx="4105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요약과 다음 단계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809848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ToF 낙상 감지 휠체어 내비게이션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PURPOSE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목적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4160520" cy="1481328"/>
          </a:xfrm>
          <a:prstGeom prst="roundRect">
            <a:avLst>
              <a:gd name="adj" fmla="val 4938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04672" y="162763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" y="1920240"/>
            <a:ext cx="364845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전동 휠체어가 계단·단차·낙차를 미리 감지하지 못하면 전복·추락 사고로 이어질 수 있으며, 일반 범퍼/적외선 센서는 근접거리에서만 반응해 사전 회피가 어렵다.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482596" y="3108960"/>
            <a:ext cx="292608" cy="292608"/>
          </a:xfrm>
          <a:prstGeom prst="ellipse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2482596" y="3072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511296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804672" y="36576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04672" y="3968496"/>
            <a:ext cx="36484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VL53L8CX 8×8 ToF 센서를 주행방향 전방 45° 하향으로 장착</a:t>
            </a:r>
            <a:endParaRPr lang="en-US" sz="125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 방향 바닥 형상을 선제적으로 64포인트 스캔</a:t>
            </a:r>
            <a:endParaRPr lang="en-US" sz="1250" dirty="0"/>
          </a:p>
          <a:p>
            <a:pPr marL="342900" indent="-342900">
              <a:lnSpc>
                <a:spcPct val="122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 감지 시 정지→후진→우회→하강까지 자율 수행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846320" y="1481328"/>
            <a:ext cx="6812280" cy="3813048"/>
          </a:xfrm>
          <a:prstGeom prst="roundRect">
            <a:avLst>
              <a:gd name="adj" fmla="val 1918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0" descr="/home/claude/work/assets/sensor_conce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627632"/>
            <a:ext cx="6537960" cy="30489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983480" y="5020056"/>
            <a:ext cx="6537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그림 1. 센서 45° 하향 장착 개념도 — 정상 바닥(좌) vs 낙차 감지(우)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5650992"/>
            <a:ext cx="11091672" cy="566928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841248" y="565099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목표   </a:t>
            </a: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하드웨어(VL53L8CX + RP2350) 연동 전, Isaac Sim에서 감지·판정·회피 로직을 선검증한다.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Purpose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809848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ToF 낙상 감지 휠체어 내비게이션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 구성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84448" cy="1371600"/>
          </a:xfrm>
          <a:prstGeom prst="roundRect">
            <a:avLst>
              <a:gd name="adj" fmla="val 5333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768096" y="1682496"/>
            <a:ext cx="128016" cy="128016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969264" y="1609344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환경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68096" y="1975104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3.5m × 2.0m 플랫폼 (높이 0.5m)</a:t>
            </a:r>
            <a:endParaRPr lang="en-US" sz="10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직진 계단 4칸 + 측면 우회 복도 + 완만한 하강 램프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297680" y="1481328"/>
            <a:ext cx="3584448" cy="1371600"/>
          </a:xfrm>
          <a:prstGeom prst="roundRect">
            <a:avLst>
              <a:gd name="adj" fmla="val 5333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17136" y="1682496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4718304" y="1609344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로봇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17136" y="1975104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JetBot (Differential Drive)</a:t>
            </a:r>
            <a:endParaRPr lang="en-US" sz="10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wheel_radius 0.03m · wheel_base 0.1125m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046720" y="1481328"/>
            <a:ext cx="3584448" cy="1371600"/>
          </a:xfrm>
          <a:prstGeom prst="roundRect">
            <a:avLst>
              <a:gd name="adj" fmla="val 5333"/>
            </a:avLst>
          </a:prstGeom>
          <a:solidFill>
            <a:srgbClr val="FFFB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266176" y="1682496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467344" y="1609344"/>
            <a:ext cx="2944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물리 엔진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66176" y="1975104"/>
            <a:ext cx="3145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Isaac Sim 5.1.0 · PhysX</a:t>
            </a:r>
            <a:endParaRPr lang="en-US" sz="10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60Hz 고정 타임스텝 (dt=1/60s)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548640" y="30632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파이프라인 (센서 → 판정 → 제어)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401568"/>
            <a:ext cx="11091672" cy="2590817"/>
          </a:xfrm>
          <a:prstGeom prst="roundRect">
            <a:avLst>
              <a:gd name="adj" fmla="val 2824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0" descr="/home/claude/work/assets/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630168"/>
            <a:ext cx="10634472" cy="2045669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Architecture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3809848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ToF 낙상 감지 휠체어 내비게이션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SENSOR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ToF 센서 8×8 그리드 설계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2624328"/>
            <a:ext cx="420624" cy="420624"/>
          </a:xfrm>
          <a:prstGeom prst="roundRect">
            <a:avLst>
              <a:gd name="adj" fmla="val 7609"/>
            </a:avLst>
          </a:prstGeom>
          <a:solidFill>
            <a:srgbClr val="10B981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243584" y="2624328"/>
            <a:ext cx="420624" cy="420624"/>
          </a:xfrm>
          <a:prstGeom prst="roundRect">
            <a:avLst>
              <a:gd name="adj" fmla="val 7609"/>
            </a:avLst>
          </a:prstGeom>
          <a:solidFill>
            <a:srgbClr val="10B981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709928" y="2624328"/>
            <a:ext cx="420624" cy="420624"/>
          </a:xfrm>
          <a:prstGeom prst="roundRect">
            <a:avLst>
              <a:gd name="adj" fmla="val 7609"/>
            </a:avLst>
          </a:prstGeom>
          <a:solidFill>
            <a:srgbClr val="10B981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176272" y="2624328"/>
            <a:ext cx="420624" cy="420624"/>
          </a:xfrm>
          <a:prstGeom prst="roundRect">
            <a:avLst>
              <a:gd name="adj" fmla="val 7609"/>
            </a:avLst>
          </a:prstGeom>
          <a:solidFill>
            <a:srgbClr val="10B981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2642616" y="2624328"/>
            <a:ext cx="420624" cy="420624"/>
          </a:xfrm>
          <a:prstGeom prst="roundRect">
            <a:avLst>
              <a:gd name="adj" fmla="val 7609"/>
            </a:avLst>
          </a:prstGeom>
          <a:solidFill>
            <a:srgbClr val="10B981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108960" y="2624328"/>
            <a:ext cx="420624" cy="420624"/>
          </a:xfrm>
          <a:prstGeom prst="roundRect">
            <a:avLst>
              <a:gd name="adj" fmla="val 7609"/>
            </a:avLst>
          </a:prstGeom>
          <a:solidFill>
            <a:srgbClr val="10B981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575304" y="2624328"/>
            <a:ext cx="420624" cy="420624"/>
          </a:xfrm>
          <a:prstGeom prst="roundRect">
            <a:avLst>
              <a:gd name="adj" fmla="val 7609"/>
            </a:avLst>
          </a:prstGeom>
          <a:solidFill>
            <a:srgbClr val="10B981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041648" y="2624328"/>
            <a:ext cx="420624" cy="420624"/>
          </a:xfrm>
          <a:prstGeom prst="roundRect">
            <a:avLst>
              <a:gd name="adj" fmla="val 7609"/>
            </a:avLst>
          </a:prstGeom>
          <a:solidFill>
            <a:srgbClr val="10B981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777240" y="3090672"/>
            <a:ext cx="420624" cy="420624"/>
          </a:xfrm>
          <a:prstGeom prst="roundRect">
            <a:avLst>
              <a:gd name="adj" fmla="val 7609"/>
            </a:avLst>
          </a:prstGeom>
          <a:solidFill>
            <a:srgbClr val="10B981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243584" y="3090672"/>
            <a:ext cx="420624" cy="420624"/>
          </a:xfrm>
          <a:prstGeom prst="roundRect">
            <a:avLst>
              <a:gd name="adj" fmla="val 7609"/>
            </a:avLst>
          </a:prstGeom>
          <a:solidFill>
            <a:srgbClr val="10B981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709928" y="3090672"/>
            <a:ext cx="420624" cy="420624"/>
          </a:xfrm>
          <a:prstGeom prst="roundRect">
            <a:avLst>
              <a:gd name="adj" fmla="val 7609"/>
            </a:avLst>
          </a:prstGeom>
          <a:solidFill>
            <a:srgbClr val="10B981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2176272" y="3090672"/>
            <a:ext cx="420624" cy="420624"/>
          </a:xfrm>
          <a:prstGeom prst="roundRect">
            <a:avLst>
              <a:gd name="adj" fmla="val 7609"/>
            </a:avLst>
          </a:prstGeom>
          <a:solidFill>
            <a:srgbClr val="10B981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2642616" y="3090672"/>
            <a:ext cx="420624" cy="420624"/>
          </a:xfrm>
          <a:prstGeom prst="roundRect">
            <a:avLst>
              <a:gd name="adj" fmla="val 7609"/>
            </a:avLst>
          </a:prstGeom>
          <a:solidFill>
            <a:srgbClr val="10B981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108960" y="3090672"/>
            <a:ext cx="420624" cy="420624"/>
          </a:xfrm>
          <a:prstGeom prst="roundRect">
            <a:avLst>
              <a:gd name="adj" fmla="val 7609"/>
            </a:avLst>
          </a:prstGeom>
          <a:solidFill>
            <a:srgbClr val="10B981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3575304" y="3090672"/>
            <a:ext cx="420624" cy="420624"/>
          </a:xfrm>
          <a:prstGeom prst="roundRect">
            <a:avLst>
              <a:gd name="adj" fmla="val 7609"/>
            </a:avLst>
          </a:prstGeom>
          <a:solidFill>
            <a:srgbClr val="10B981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041648" y="3090672"/>
            <a:ext cx="420624" cy="420624"/>
          </a:xfrm>
          <a:prstGeom prst="roundRect">
            <a:avLst>
              <a:gd name="adj" fmla="val 7609"/>
            </a:avLst>
          </a:prstGeom>
          <a:solidFill>
            <a:srgbClr val="10B981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777240" y="3557016"/>
            <a:ext cx="420624" cy="420624"/>
          </a:xfrm>
          <a:prstGeom prst="roundRect">
            <a:avLst>
              <a:gd name="adj" fmla="val 7609"/>
            </a:avLst>
          </a:prstGeom>
          <a:solidFill>
            <a:srgbClr val="10B981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243584" y="3557016"/>
            <a:ext cx="420624" cy="420624"/>
          </a:xfrm>
          <a:prstGeom prst="roundRect">
            <a:avLst>
              <a:gd name="adj" fmla="val 7609"/>
            </a:avLst>
          </a:prstGeom>
          <a:solidFill>
            <a:srgbClr val="10B981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709928" y="3557016"/>
            <a:ext cx="420624" cy="420624"/>
          </a:xfrm>
          <a:prstGeom prst="roundRect">
            <a:avLst>
              <a:gd name="adj" fmla="val 7609"/>
            </a:avLst>
          </a:prstGeom>
          <a:solidFill>
            <a:srgbClr val="10B981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2176272" y="3557016"/>
            <a:ext cx="420624" cy="420624"/>
          </a:xfrm>
          <a:prstGeom prst="roundRect">
            <a:avLst>
              <a:gd name="adj" fmla="val 7609"/>
            </a:avLst>
          </a:prstGeom>
          <a:solidFill>
            <a:srgbClr val="10B981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2642616" y="3557016"/>
            <a:ext cx="420624" cy="420624"/>
          </a:xfrm>
          <a:prstGeom prst="roundRect">
            <a:avLst>
              <a:gd name="adj" fmla="val 7609"/>
            </a:avLst>
          </a:prstGeom>
          <a:solidFill>
            <a:srgbClr val="10B981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3108960" y="3557016"/>
            <a:ext cx="420624" cy="420624"/>
          </a:xfrm>
          <a:prstGeom prst="roundRect">
            <a:avLst>
              <a:gd name="adj" fmla="val 7609"/>
            </a:avLst>
          </a:prstGeom>
          <a:solidFill>
            <a:srgbClr val="10B981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3575304" y="3557016"/>
            <a:ext cx="420624" cy="420624"/>
          </a:xfrm>
          <a:prstGeom prst="roundRect">
            <a:avLst>
              <a:gd name="adj" fmla="val 7609"/>
            </a:avLst>
          </a:prstGeom>
          <a:solidFill>
            <a:srgbClr val="10B981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4041648" y="3557016"/>
            <a:ext cx="420624" cy="420624"/>
          </a:xfrm>
          <a:prstGeom prst="roundRect">
            <a:avLst>
              <a:gd name="adj" fmla="val 7609"/>
            </a:avLst>
          </a:prstGeom>
          <a:solidFill>
            <a:srgbClr val="10B981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777240" y="4023360"/>
            <a:ext cx="420624" cy="420624"/>
          </a:xfrm>
          <a:prstGeom prst="roundRect">
            <a:avLst>
              <a:gd name="adj" fmla="val 7609"/>
            </a:avLst>
          </a:prstGeom>
          <a:solidFill>
            <a:srgbClr val="10B981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1243584" y="4023360"/>
            <a:ext cx="420624" cy="420624"/>
          </a:xfrm>
          <a:prstGeom prst="roundRect">
            <a:avLst>
              <a:gd name="adj" fmla="val 7609"/>
            </a:avLst>
          </a:prstGeom>
          <a:solidFill>
            <a:srgbClr val="10B981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709928" y="4023360"/>
            <a:ext cx="420624" cy="420624"/>
          </a:xfrm>
          <a:prstGeom prst="roundRect">
            <a:avLst>
              <a:gd name="adj" fmla="val 7609"/>
            </a:avLst>
          </a:prstGeom>
          <a:solidFill>
            <a:srgbClr val="10B981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2176272" y="4023360"/>
            <a:ext cx="420624" cy="420624"/>
          </a:xfrm>
          <a:prstGeom prst="roundRect">
            <a:avLst>
              <a:gd name="adj" fmla="val 7609"/>
            </a:avLst>
          </a:prstGeom>
          <a:solidFill>
            <a:srgbClr val="10B981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2642616" y="4023360"/>
            <a:ext cx="420624" cy="420624"/>
          </a:xfrm>
          <a:prstGeom prst="roundRect">
            <a:avLst>
              <a:gd name="adj" fmla="val 7609"/>
            </a:avLst>
          </a:prstGeom>
          <a:solidFill>
            <a:srgbClr val="10B981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3108960" y="4023360"/>
            <a:ext cx="420624" cy="420624"/>
          </a:xfrm>
          <a:prstGeom prst="roundRect">
            <a:avLst>
              <a:gd name="adj" fmla="val 7609"/>
            </a:avLst>
          </a:prstGeom>
          <a:solidFill>
            <a:srgbClr val="10B981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3575304" y="4023360"/>
            <a:ext cx="420624" cy="420624"/>
          </a:xfrm>
          <a:prstGeom prst="roundRect">
            <a:avLst>
              <a:gd name="adj" fmla="val 7609"/>
            </a:avLst>
          </a:prstGeom>
          <a:solidFill>
            <a:srgbClr val="10B981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4041648" y="4023360"/>
            <a:ext cx="420624" cy="420624"/>
          </a:xfrm>
          <a:prstGeom prst="roundRect">
            <a:avLst>
              <a:gd name="adj" fmla="val 7609"/>
            </a:avLst>
          </a:prstGeom>
          <a:solidFill>
            <a:srgbClr val="10B981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777240" y="4489704"/>
            <a:ext cx="420624" cy="420624"/>
          </a:xfrm>
          <a:prstGeom prst="roundRect">
            <a:avLst>
              <a:gd name="adj" fmla="val 7609"/>
            </a:avLst>
          </a:prstGeom>
          <a:solidFill>
            <a:srgbClr val="10B981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243584" y="4489704"/>
            <a:ext cx="420624" cy="420624"/>
          </a:xfrm>
          <a:prstGeom prst="roundRect">
            <a:avLst>
              <a:gd name="adj" fmla="val 7609"/>
            </a:avLst>
          </a:prstGeom>
          <a:solidFill>
            <a:srgbClr val="10B981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709928" y="4489704"/>
            <a:ext cx="420624" cy="420624"/>
          </a:xfrm>
          <a:prstGeom prst="roundRect">
            <a:avLst>
              <a:gd name="adj" fmla="val 7609"/>
            </a:avLst>
          </a:prstGeom>
          <a:solidFill>
            <a:srgbClr val="10B981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2176272" y="4489704"/>
            <a:ext cx="420624" cy="420624"/>
          </a:xfrm>
          <a:prstGeom prst="roundRect">
            <a:avLst>
              <a:gd name="adj" fmla="val 7609"/>
            </a:avLst>
          </a:prstGeom>
          <a:solidFill>
            <a:srgbClr val="10B981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2642616" y="4489704"/>
            <a:ext cx="420624" cy="420624"/>
          </a:xfrm>
          <a:prstGeom prst="roundRect">
            <a:avLst>
              <a:gd name="adj" fmla="val 7609"/>
            </a:avLst>
          </a:prstGeom>
          <a:solidFill>
            <a:srgbClr val="10B981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3108960" y="4489704"/>
            <a:ext cx="420624" cy="420624"/>
          </a:xfrm>
          <a:prstGeom prst="roundRect">
            <a:avLst>
              <a:gd name="adj" fmla="val 7609"/>
            </a:avLst>
          </a:prstGeom>
          <a:solidFill>
            <a:srgbClr val="10B981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3575304" y="4489704"/>
            <a:ext cx="420624" cy="420624"/>
          </a:xfrm>
          <a:prstGeom prst="roundRect">
            <a:avLst>
              <a:gd name="adj" fmla="val 7609"/>
            </a:avLst>
          </a:prstGeom>
          <a:solidFill>
            <a:srgbClr val="10B981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4041648" y="4489704"/>
            <a:ext cx="420624" cy="420624"/>
          </a:xfrm>
          <a:prstGeom prst="roundRect">
            <a:avLst>
              <a:gd name="adj" fmla="val 7609"/>
            </a:avLst>
          </a:prstGeom>
          <a:solidFill>
            <a:srgbClr val="10B981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777240" y="4956048"/>
            <a:ext cx="420624" cy="420624"/>
          </a:xfrm>
          <a:prstGeom prst="roundRect">
            <a:avLst>
              <a:gd name="adj" fmla="val 7609"/>
            </a:avLst>
          </a:prstGeom>
          <a:solidFill>
            <a:srgbClr val="10B981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1243584" y="4956048"/>
            <a:ext cx="420624" cy="420624"/>
          </a:xfrm>
          <a:prstGeom prst="roundRect">
            <a:avLst>
              <a:gd name="adj" fmla="val 7609"/>
            </a:avLst>
          </a:prstGeom>
          <a:solidFill>
            <a:srgbClr val="10B981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1709928" y="4956048"/>
            <a:ext cx="420624" cy="420624"/>
          </a:xfrm>
          <a:prstGeom prst="roundRect">
            <a:avLst>
              <a:gd name="adj" fmla="val 7609"/>
            </a:avLst>
          </a:prstGeom>
          <a:solidFill>
            <a:srgbClr val="10B981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2176272" y="4956048"/>
            <a:ext cx="420624" cy="420624"/>
          </a:xfrm>
          <a:prstGeom prst="roundRect">
            <a:avLst>
              <a:gd name="adj" fmla="val 7609"/>
            </a:avLst>
          </a:prstGeom>
          <a:solidFill>
            <a:srgbClr val="10B981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2642616" y="4956048"/>
            <a:ext cx="420624" cy="420624"/>
          </a:xfrm>
          <a:prstGeom prst="roundRect">
            <a:avLst>
              <a:gd name="adj" fmla="val 7609"/>
            </a:avLst>
          </a:prstGeom>
          <a:solidFill>
            <a:srgbClr val="10B981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3108960" y="4956048"/>
            <a:ext cx="420624" cy="420624"/>
          </a:xfrm>
          <a:prstGeom prst="roundRect">
            <a:avLst>
              <a:gd name="adj" fmla="val 7609"/>
            </a:avLst>
          </a:prstGeom>
          <a:solidFill>
            <a:srgbClr val="10B981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3575304" y="4956048"/>
            <a:ext cx="420624" cy="420624"/>
          </a:xfrm>
          <a:prstGeom prst="roundRect">
            <a:avLst>
              <a:gd name="adj" fmla="val 7609"/>
            </a:avLst>
          </a:prstGeom>
          <a:solidFill>
            <a:srgbClr val="10B981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4041648" y="4956048"/>
            <a:ext cx="420624" cy="420624"/>
          </a:xfrm>
          <a:prstGeom prst="roundRect">
            <a:avLst>
              <a:gd name="adj" fmla="val 7609"/>
            </a:avLst>
          </a:prstGeom>
          <a:solidFill>
            <a:srgbClr val="10B981">
              <a:alpha val="45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777240" y="2157984"/>
            <a:ext cx="420624" cy="420624"/>
          </a:xfrm>
          <a:prstGeom prst="roundRect">
            <a:avLst>
              <a:gd name="adj" fmla="val 7609"/>
            </a:avLst>
          </a:prstGeom>
          <a:solidFill>
            <a:srgbClr val="10B981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1243584" y="2157984"/>
            <a:ext cx="420624" cy="420624"/>
          </a:xfrm>
          <a:prstGeom prst="roundRect">
            <a:avLst>
              <a:gd name="adj" fmla="val 7609"/>
            </a:avLst>
          </a:prstGeom>
          <a:solidFill>
            <a:srgbClr val="10B981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709928" y="2157984"/>
            <a:ext cx="420624" cy="420624"/>
          </a:xfrm>
          <a:prstGeom prst="roundRect">
            <a:avLst>
              <a:gd name="adj" fmla="val 7609"/>
            </a:avLst>
          </a:prstGeom>
          <a:solidFill>
            <a:srgbClr val="10B981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2176272" y="2157984"/>
            <a:ext cx="420624" cy="420624"/>
          </a:xfrm>
          <a:prstGeom prst="roundRect">
            <a:avLst>
              <a:gd name="adj" fmla="val 7609"/>
            </a:avLst>
          </a:prstGeom>
          <a:solidFill>
            <a:srgbClr val="EF4444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2642616" y="2157984"/>
            <a:ext cx="420624" cy="420624"/>
          </a:xfrm>
          <a:prstGeom prst="roundRect">
            <a:avLst>
              <a:gd name="adj" fmla="val 7609"/>
            </a:avLst>
          </a:prstGeom>
          <a:solidFill>
            <a:srgbClr val="EF4444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3108960" y="2157984"/>
            <a:ext cx="420624" cy="420624"/>
          </a:xfrm>
          <a:prstGeom prst="roundRect">
            <a:avLst>
              <a:gd name="adj" fmla="val 7609"/>
            </a:avLst>
          </a:prstGeom>
          <a:solidFill>
            <a:srgbClr val="F59E0B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3575304" y="2157984"/>
            <a:ext cx="420624" cy="420624"/>
          </a:xfrm>
          <a:prstGeom prst="roundRect">
            <a:avLst>
              <a:gd name="adj" fmla="val 7609"/>
            </a:avLst>
          </a:prstGeom>
          <a:solidFill>
            <a:srgbClr val="F59E0B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4041648" y="2157984"/>
            <a:ext cx="420624" cy="420624"/>
          </a:xfrm>
          <a:prstGeom prst="roundRect">
            <a:avLst>
              <a:gd name="adj" fmla="val 7609"/>
            </a:avLst>
          </a:prstGeom>
          <a:solidFill>
            <a:srgbClr val="F59E0B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777240" y="1691640"/>
            <a:ext cx="420624" cy="420624"/>
          </a:xfrm>
          <a:prstGeom prst="roundRect">
            <a:avLst>
              <a:gd name="adj" fmla="val 7609"/>
            </a:avLst>
          </a:prstGeom>
          <a:solidFill>
            <a:srgbClr val="10B981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1243584" y="1691640"/>
            <a:ext cx="420624" cy="420624"/>
          </a:xfrm>
          <a:prstGeom prst="roundRect">
            <a:avLst>
              <a:gd name="adj" fmla="val 7609"/>
            </a:avLst>
          </a:prstGeom>
          <a:solidFill>
            <a:srgbClr val="10B981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1709928" y="1691640"/>
            <a:ext cx="420624" cy="420624"/>
          </a:xfrm>
          <a:prstGeom prst="roundRect">
            <a:avLst>
              <a:gd name="adj" fmla="val 7609"/>
            </a:avLst>
          </a:prstGeom>
          <a:solidFill>
            <a:srgbClr val="10B981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2176272" y="1691640"/>
            <a:ext cx="420624" cy="420624"/>
          </a:xfrm>
          <a:prstGeom prst="roundRect">
            <a:avLst>
              <a:gd name="adj" fmla="val 7609"/>
            </a:avLst>
          </a:prstGeom>
          <a:solidFill>
            <a:srgbClr val="EF4444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2642616" y="1691640"/>
            <a:ext cx="420624" cy="420624"/>
          </a:xfrm>
          <a:prstGeom prst="roundRect">
            <a:avLst>
              <a:gd name="adj" fmla="val 7609"/>
            </a:avLst>
          </a:prstGeom>
          <a:solidFill>
            <a:srgbClr val="EF4444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3108960" y="1691640"/>
            <a:ext cx="420624" cy="420624"/>
          </a:xfrm>
          <a:prstGeom prst="roundRect">
            <a:avLst>
              <a:gd name="adj" fmla="val 7609"/>
            </a:avLst>
          </a:prstGeom>
          <a:solidFill>
            <a:srgbClr val="F59E0B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3575304" y="1691640"/>
            <a:ext cx="420624" cy="420624"/>
          </a:xfrm>
          <a:prstGeom prst="roundRect">
            <a:avLst>
              <a:gd name="adj" fmla="val 7609"/>
            </a:avLst>
          </a:prstGeom>
          <a:solidFill>
            <a:srgbClr val="F59E0B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4041648" y="1691640"/>
            <a:ext cx="420624" cy="420624"/>
          </a:xfrm>
          <a:prstGeom prst="roundRect">
            <a:avLst>
              <a:gd name="adj" fmla="val 7609"/>
            </a:avLst>
          </a:prstGeom>
          <a:solidFill>
            <a:srgbClr val="F59E0B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777240" y="2670048"/>
            <a:ext cx="1353312" cy="4114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/>
          <p:nvPr/>
        </p:nvSpPr>
        <p:spPr>
          <a:xfrm>
            <a:off x="777240" y="2724912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300" dirty="0"/>
          </a:p>
        </p:txBody>
      </p:sp>
      <p:sp>
        <p:nvSpPr>
          <p:cNvPr id="70" name="Shape 68"/>
          <p:cNvSpPr/>
          <p:nvPr/>
        </p:nvSpPr>
        <p:spPr>
          <a:xfrm>
            <a:off x="2176272" y="2670048"/>
            <a:ext cx="886968" cy="4114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1" name="Text 69"/>
          <p:cNvSpPr/>
          <p:nvPr/>
        </p:nvSpPr>
        <p:spPr>
          <a:xfrm>
            <a:off x="2176272" y="2724912"/>
            <a:ext cx="886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3108960" y="2670048"/>
            <a:ext cx="1353312" cy="4114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/>
          <p:nvPr/>
        </p:nvSpPr>
        <p:spPr>
          <a:xfrm>
            <a:off x="3108960" y="2724912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4626864" y="1691640"/>
            <a:ext cx="0" cy="886968"/>
          </a:xfrm>
          <a:prstGeom prst="line">
            <a:avLst/>
          </a:prstGeom>
          <a:noFill/>
          <a:ln w="12700">
            <a:solidFill>
              <a:srgbClr val="EF4444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3"/>
          <p:cNvSpPr/>
          <p:nvPr/>
        </p:nvSpPr>
        <p:spPr>
          <a:xfrm>
            <a:off x="4754880" y="1709928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6–7</a:t>
            </a:r>
            <a:endParaRPr lang="en-US" sz="108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낙상 판정 구역</a:t>
            </a:r>
            <a:endParaRPr lang="en-US" sz="108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Green→Yellow→Orange→Red</a:t>
            </a:r>
            <a:endParaRPr lang="en-US" sz="1080" dirty="0"/>
          </a:p>
        </p:txBody>
      </p:sp>
      <p:sp>
        <p:nvSpPr>
          <p:cNvPr id="76" name="Shape 74"/>
          <p:cNvSpPr/>
          <p:nvPr/>
        </p:nvSpPr>
        <p:spPr>
          <a:xfrm>
            <a:off x="4626864" y="2624328"/>
            <a:ext cx="0" cy="2752344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5"/>
          <p:cNvSpPr/>
          <p:nvPr/>
        </p:nvSpPr>
        <p:spPr>
          <a:xfrm>
            <a:off x="4754880" y="312724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0–5</a:t>
            </a:r>
            <a:endParaRPr lang="en-US" sz="108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원거리 모니터링</a:t>
            </a:r>
            <a:endParaRPr lang="en-US" sz="108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/ Yellow만 허용</a:t>
            </a:r>
            <a:endParaRPr lang="en-US" sz="1080" dirty="0"/>
          </a:p>
        </p:txBody>
      </p:sp>
      <p:sp>
        <p:nvSpPr>
          <p:cNvPr id="78" name="Text 76"/>
          <p:cNvSpPr/>
          <p:nvPr/>
        </p:nvSpPr>
        <p:spPr>
          <a:xfrm>
            <a:off x="8732520" y="15179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PARAMETERS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8732520" y="184708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FOV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9966960" y="184708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45° × 45°</a:t>
            </a:r>
            <a:endParaRPr lang="en-US" sz="1150" dirty="0"/>
          </a:p>
        </p:txBody>
      </p:sp>
      <p:sp>
        <p:nvSpPr>
          <p:cNvPr id="81" name="Shape 79"/>
          <p:cNvSpPr/>
          <p:nvPr/>
        </p:nvSpPr>
        <p:spPr>
          <a:xfrm>
            <a:off x="8732520" y="2194560"/>
            <a:ext cx="29260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Text 80"/>
          <p:cNvSpPr/>
          <p:nvPr/>
        </p:nvSpPr>
        <p:spPr>
          <a:xfrm>
            <a:off x="8732520" y="221284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장착 각도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9966960" y="221284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+45° (전방 하향)</a:t>
            </a:r>
            <a:endParaRPr lang="en-US" sz="1150" dirty="0"/>
          </a:p>
        </p:txBody>
      </p:sp>
      <p:sp>
        <p:nvSpPr>
          <p:cNvPr id="84" name="Shape 82"/>
          <p:cNvSpPr/>
          <p:nvPr/>
        </p:nvSpPr>
        <p:spPr>
          <a:xfrm>
            <a:off x="8732520" y="2560320"/>
            <a:ext cx="29260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5" name="Text 83"/>
          <p:cNvSpPr/>
          <p:nvPr/>
        </p:nvSpPr>
        <p:spPr>
          <a:xfrm>
            <a:off x="8732520" y="257860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갱신주기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9966960" y="257860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Hz</a:t>
            </a:r>
            <a:endParaRPr lang="en-US" sz="1150" dirty="0"/>
          </a:p>
        </p:txBody>
      </p:sp>
      <p:sp>
        <p:nvSpPr>
          <p:cNvPr id="87" name="Shape 85"/>
          <p:cNvSpPr/>
          <p:nvPr/>
        </p:nvSpPr>
        <p:spPr>
          <a:xfrm>
            <a:off x="8732520" y="2926080"/>
            <a:ext cx="29260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8" name="Text 86"/>
          <p:cNvSpPr/>
          <p:nvPr/>
        </p:nvSpPr>
        <p:spPr>
          <a:xfrm>
            <a:off x="8732520" y="294436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측정 범위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9966960" y="294436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0.02m – 4.00m</a:t>
            </a:r>
            <a:endParaRPr lang="en-US" sz="1150" dirty="0"/>
          </a:p>
        </p:txBody>
      </p:sp>
      <p:sp>
        <p:nvSpPr>
          <p:cNvPr id="90" name="Shape 88"/>
          <p:cNvSpPr/>
          <p:nvPr/>
        </p:nvSpPr>
        <p:spPr>
          <a:xfrm>
            <a:off x="8732520" y="3291840"/>
            <a:ext cx="29260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1" name="Text 89"/>
          <p:cNvSpPr/>
          <p:nvPr/>
        </p:nvSpPr>
        <p:spPr>
          <a:xfrm>
            <a:off x="8732520" y="331012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노이즈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9966960" y="331012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5% × 거리</a:t>
            </a:r>
            <a:endParaRPr lang="en-US" sz="1150" dirty="0"/>
          </a:p>
        </p:txBody>
      </p:sp>
      <p:sp>
        <p:nvSpPr>
          <p:cNvPr id="93" name="Shape 91"/>
          <p:cNvSpPr/>
          <p:nvPr/>
        </p:nvSpPr>
        <p:spPr>
          <a:xfrm>
            <a:off x="8732520" y="3657600"/>
            <a:ext cx="29260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4" name="Text 92"/>
          <p:cNvSpPr/>
          <p:nvPr/>
        </p:nvSpPr>
        <p:spPr>
          <a:xfrm>
            <a:off x="8732520" y="367588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판정 기준점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9966960" y="367588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6–7 (상단 2행)</a:t>
            </a:r>
            <a:endParaRPr lang="en-US" sz="1150" dirty="0"/>
          </a:p>
        </p:txBody>
      </p:sp>
      <p:sp>
        <p:nvSpPr>
          <p:cNvPr id="96" name="Shape 94"/>
          <p:cNvSpPr/>
          <p:nvPr/>
        </p:nvSpPr>
        <p:spPr>
          <a:xfrm>
            <a:off x="8732520" y="4023360"/>
            <a:ext cx="292608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7" name="Shape 95"/>
          <p:cNvSpPr/>
          <p:nvPr/>
        </p:nvSpPr>
        <p:spPr>
          <a:xfrm>
            <a:off x="8732520" y="4151376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8" name="Text 96"/>
          <p:cNvSpPr/>
          <p:nvPr/>
        </p:nvSpPr>
        <p:spPr>
          <a:xfrm>
            <a:off x="8915400" y="42611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장착 위치 오프셋</a:t>
            </a:r>
            <a:endParaRPr lang="en-US" sz="1100" dirty="0"/>
          </a:p>
        </p:txBody>
      </p:sp>
      <p:sp>
        <p:nvSpPr>
          <p:cNvPr id="99" name="Text 97"/>
          <p:cNvSpPr/>
          <p:nvPr/>
        </p:nvSpPr>
        <p:spPr>
          <a:xfrm>
            <a:off x="8915400" y="4553712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(0.18, 0.00, 0.05) m</a:t>
            </a:r>
            <a:endParaRPr lang="en-US" sz="108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로봇 중심 기준 전방·상방 오프셋으로 로봇 본체의 가림 없이 바닥을 선제적으로 관측</a:t>
            </a:r>
            <a:endParaRPr lang="en-US" sz="1080" dirty="0"/>
          </a:p>
        </p:txBody>
      </p:sp>
      <p:sp>
        <p:nvSpPr>
          <p:cNvPr id="100" name="Text 98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8×8 = 64포인트 RayCast · 코너(0,7 행/열) 셀은 ±4% 추가 노이즈로 경계영역 불확실성을 반영한다.</a:t>
            </a:r>
            <a:endParaRPr lang="en-US" sz="1100" dirty="0"/>
          </a:p>
        </p:txBody>
      </p:sp>
      <p:sp>
        <p:nvSpPr>
          <p:cNvPr id="101" name="Text 9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Sensor Design</a:t>
            </a:r>
            <a:endParaRPr lang="en-US" sz="950" dirty="0"/>
          </a:p>
        </p:txBody>
      </p:sp>
      <p:sp>
        <p:nvSpPr>
          <p:cNvPr id="102" name="Text 100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50" dirty="0"/>
          </a:p>
        </p:txBody>
      </p:sp>
      <p:sp>
        <p:nvSpPr>
          <p:cNvPr id="103" name="Text 101"/>
          <p:cNvSpPr/>
          <p:nvPr/>
        </p:nvSpPr>
        <p:spPr>
          <a:xfrm>
            <a:off x="3809848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ToF 낙상 감지 휠체어 내비게이션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DETECTION LOGIC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낙상 판정 알고리즘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074920" cy="2331720"/>
          </a:xfrm>
          <a:prstGeom prst="roundRect">
            <a:avLst>
              <a:gd name="adj" fmla="val 3137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is_cliff(zone)  —  조건식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048256"/>
            <a:ext cx="4526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hit_ratio &lt; 50%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점의 절반 이상이 허공을 감지(미탐지) → 즉시 낙상 판정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또는 (OR)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 &gt; max(1.20m, baseline × 1.8)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절대거리 또는 평소 대비 1.8배 이상 멀어지면 낙차로 판정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5074920" cy="1627632"/>
          </a:xfrm>
          <a:prstGeom prst="roundRect">
            <a:avLst>
              <a:gd name="adj" fmla="val 4494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822960" y="413308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적응형 보정 (EMA)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443984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3A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baseline = (1−α)×baseline + α×c_m   (α = 0.05)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484632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3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중앙(C) 영역이 안전하고 hit_ratio ≥ 50%일 때만 갱신되어, 일시적인 낙차 읽혀으로 baseline이 오염되지 않도록 방지한다.</a:t>
            </a:r>
            <a:endParaRPr lang="en-US" sz="1130" dirty="0"/>
          </a:p>
        </p:txBody>
      </p:sp>
      <p:sp>
        <p:nvSpPr>
          <p:cNvPr id="11" name="Text 9"/>
          <p:cNvSpPr/>
          <p:nvPr/>
        </p:nvSpPr>
        <p:spPr>
          <a:xfrm>
            <a:off x="5870448" y="1517904"/>
            <a:ext cx="5779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주행 중단(STOP) 트리거 조건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870448" y="1865376"/>
            <a:ext cx="5779008" cy="676656"/>
          </a:xfrm>
          <a:prstGeom prst="roundRect">
            <a:avLst>
              <a:gd name="adj" fmla="val 8108"/>
            </a:avLst>
          </a:prstGeom>
          <a:solidFill>
            <a:srgbClr val="EFF6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053328" y="2084832"/>
            <a:ext cx="109728" cy="10972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6291072" y="1943100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≥ EDGE_GUARD_X (3.3m)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91072" y="2231136"/>
            <a:ext cx="5138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절단 경계 0.2m 전에 미리 정지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870448" y="2688336"/>
            <a:ext cx="5779008" cy="676656"/>
          </a:xfrm>
          <a:prstGeom prst="roundRect">
            <a:avLst>
              <a:gd name="adj" fmla="val 8108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6053328" y="2907792"/>
            <a:ext cx="109728" cy="109728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291072" y="2766060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중앙(C) 영역 낙상 판정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291072" y="3054096"/>
            <a:ext cx="5138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정면에 낙차가 감지된 경우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870448" y="3511296"/>
            <a:ext cx="5779008" cy="676656"/>
          </a:xfrm>
          <a:prstGeom prst="roundRect">
            <a:avLst>
              <a:gd name="adj" fmla="val 8108"/>
            </a:avLst>
          </a:prstGeom>
          <a:solidFill>
            <a:srgbClr val="FFFB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053328" y="3730752"/>
            <a:ext cx="109728" cy="10972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291072" y="3589020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좌(L) + 우(R) 동시 낙상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91072" y="3877056"/>
            <a:ext cx="5138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양쪽 모두 거리가 멀어진 경우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5870448" y="4389120"/>
            <a:ext cx="5779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세 조건 중 하나라도 충족되면 STATE: FORWARD → STOP 으로 즉시 전환된다 (OR 조건).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5870448" y="4837176"/>
            <a:ext cx="5779008" cy="822960"/>
          </a:xfrm>
          <a:prstGeom prst="roundRect">
            <a:avLst>
              <a:gd name="adj" fmla="val 8889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/>
          <p:nvPr/>
        </p:nvSpPr>
        <p:spPr>
          <a:xfrm>
            <a:off x="6071616" y="4837176"/>
            <a:ext cx="54132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영역 분할:  L = col 0–2   ·   C = col 3–4   ·   R = col 5–7  (모두 Row 6–7 기준)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Detection Logic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809848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ToF 낙상 감지 휠체어 내비게이션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STATE MACHINE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상태머신 블록도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44752"/>
            <a:ext cx="11091672" cy="1714642"/>
          </a:xfrm>
          <a:prstGeom prst="roundRect">
            <a:avLst>
              <a:gd name="adj" fmla="val 4266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/home/claude/work/assets/state_mach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1636776"/>
            <a:ext cx="10707624" cy="12845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360562"/>
            <a:ext cx="1757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48640" y="3607450"/>
            <a:ext cx="1757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0.4s 정지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397252" y="3360562"/>
            <a:ext cx="1757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397252" y="3607450"/>
            <a:ext cx="1757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1.2s · 0.10 m/s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296668" y="3378850"/>
            <a:ext cx="0" cy="4572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4245864" y="3360562"/>
            <a:ext cx="1757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245864" y="3607450"/>
            <a:ext cx="1757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최대 180° 탐색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145280" y="3378850"/>
            <a:ext cx="0" cy="4572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6094476" y="3360562"/>
            <a:ext cx="1757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SAFE_NEED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94476" y="3607450"/>
            <a:ext cx="1757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6회 연속 안전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993892" y="3378850"/>
            <a:ext cx="0" cy="4572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7943088" y="3360562"/>
            <a:ext cx="1757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TURN_FWD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943088" y="3607450"/>
            <a:ext cx="1757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정렬 오차 ± 7°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842504" y="3378850"/>
            <a:ext cx="0" cy="4572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7"/>
          <p:cNvSpPr/>
          <p:nvPr/>
        </p:nvSpPr>
        <p:spPr>
          <a:xfrm>
            <a:off x="9791700" y="3360562"/>
            <a:ext cx="17571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BASE_SPEED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9791700" y="3607450"/>
            <a:ext cx="17571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 m/s 주행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9691116" y="3378850"/>
            <a:ext cx="0" cy="45720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548640" y="4073794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548640" y="4256674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오탐지 방지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8640" y="4567570"/>
            <a:ext cx="3575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SCANNING은 중앙이 6회 연속으로 안전해야(SAFE_NEED) 비로소 TO_BYPASS로 전환한다. 노이즈로 인한 일시적 오탐지를 차단.</a:t>
            </a:r>
            <a:endParaRPr lang="en-US" sz="1080" dirty="0"/>
          </a:p>
        </p:txBody>
      </p:sp>
      <p:sp>
        <p:nvSpPr>
          <p:cNvPr id="26" name="Text 23"/>
          <p:cNvSpPr/>
          <p:nvPr/>
        </p:nvSpPr>
        <p:spPr>
          <a:xfrm>
            <a:off x="4306824" y="4256674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Fail-safe 종료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306824" y="4567570"/>
            <a:ext cx="3575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180°를 다 회전해도 안전한 우회로를 찾지 못하면 DONE으로 전환되어 안전하게 정지한다 (무한 루프 방지).</a:t>
            </a:r>
            <a:endParaRPr lang="en-US" sz="1080" dirty="0"/>
          </a:p>
        </p:txBody>
      </p:sp>
      <p:sp>
        <p:nvSpPr>
          <p:cNvPr id="28" name="Text 25"/>
          <p:cNvSpPr/>
          <p:nvPr/>
        </p:nvSpPr>
        <p:spPr>
          <a:xfrm>
            <a:off x="8065008" y="4256674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방향 정렬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065008" y="4567570"/>
            <a:ext cx="3575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08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TO_BYPASS / TURN_FWD는 먼저 기준 햤딩으로 정렬(±12°/±7° 이내) 후에만 직진하여 경로 이탈을 최소화한다.</a:t>
            </a:r>
            <a:endParaRPr lang="en-US" sz="1080" dirty="0"/>
          </a:p>
        </p:txBody>
      </p:sp>
      <p:sp>
        <p:nvSpPr>
          <p:cNvPr id="30" name="Text 2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State Machine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3809848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ToF 낙상 감지 휠체어 내비게이션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HUD &amp; LOGGING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 &amp; 로그 이중 시스템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40680" cy="3611880"/>
          </a:xfrm>
          <a:prstGeom prst="roundRect">
            <a:avLst>
              <a:gd name="adj" fmla="val 2025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22960" y="166420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HUD  ·  ENGLISH ONLY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#007 STATE: REVERSE | TIME: 00:14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CLIFF: NONE | L:930 C:834 R:877 (mm)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761488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와 한글 폰트 미지원으로 인한 글꾸 깨짐(???)을 방지하기 위해 omni.ui 창은 영어만 사용한다. 상태명은 FORWARD·STOP·REVERSE·SCAN·BYPASS·ALIGN·DESCEND·DONE 8종.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822960" y="3785616"/>
            <a:ext cx="4892040" cy="0"/>
          </a:xfrm>
          <a:prstGeom prst="line">
            <a:avLst/>
          </a:prstGeom>
          <a:noFill/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22960" y="40233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1097280" y="3986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011680" y="40233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286000" y="3986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0" y="40233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474720" y="3986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0" y="40233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EF444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4663440" y="39867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2960" y="440740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3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0–5: Green/Yellow만  ·  Row 6–7: 4단계 전체 · 판정 확정 시 해당 열 강제 Red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6199632" y="1481328"/>
            <a:ext cx="5440680" cy="3611880"/>
          </a:xfrm>
          <a:prstGeom prst="roundRect">
            <a:avLst>
              <a:gd name="adj" fmla="val 2025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6473952" y="166420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콘솔 로그  ·  한글 상세 기록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73952" y="201168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[#007 | 상태변경]  경과시간: 00:14 | 상태: 후진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속도(v): −0.100 m/s | 회전속도(w): +0.00 rad/s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좌(L): 930mm 정상 | 중앙(C): 834mm 정상 | 우(R): 877mm 정상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73952" y="2962656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3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운영자가 세부 디버깅·리포트를 하도록 콘솔은 한글로 속도·방향·위치·좌·중앙·우 각 영역의 감지율·판정을 모두 기록한다.</a:t>
            </a:r>
            <a:endParaRPr lang="en-US" sz="1130" dirty="0"/>
          </a:p>
        </p:txBody>
      </p:sp>
      <p:sp>
        <p:nvSpPr>
          <p:cNvPr id="22" name="Shape 20"/>
          <p:cNvSpPr/>
          <p:nvPr/>
        </p:nvSpPr>
        <p:spPr>
          <a:xfrm>
            <a:off x="6473952" y="3785616"/>
            <a:ext cx="4892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6473952" y="4023360"/>
            <a:ext cx="1627632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6601968" y="4114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601968" y="43708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· 첫 프레임 1회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211312" y="4023360"/>
            <a:ext cx="1627632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8339328" y="4114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상태변경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339328" y="43708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STATE_CHANGE · 전환 시마다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948672" y="4023360"/>
            <a:ext cx="1627632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10076688" y="41148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주기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0076688" y="43708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HEARTBEAT · 3초마다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48640" y="52578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디자인 의도: HUD(영어) — 실시간 시각화용 / 콘솔(한글) — 개발·검증용 이중 로깅으로 인코딩 깨짐과 가독성을 동시에 해결한다.</a:t>
            </a:r>
            <a:endParaRPr lang="en-US" sz="113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HUD &amp; Logging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809848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ToF 낙상 감지 휠체어 내비게이션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TEST VERIFICATION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시뮬레이션 테스트 검증 결과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603504"/>
          </a:xfrm>
          <a:prstGeom prst="roundRect">
            <a:avLst>
              <a:gd name="adj" fmla="val 12121"/>
            </a:avLst>
          </a:prstGeom>
          <a:solidFill>
            <a:srgbClr val="ECFDF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841248" y="1417320"/>
            <a:ext cx="10607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  </a:t>
            </a:r>
            <a:r>
              <a:rPr lang="en-US" sz="135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38초 (로그 19회) 만에 절벽 회피 + 우회 진입 + 경사로 하강까지 전 과정을 자율적으로 성공적으로 완료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12064" y="2212848"/>
            <a:ext cx="2176272" cy="1168895"/>
          </a:xfrm>
          <a:prstGeom prst="roundRect">
            <a:avLst>
              <a:gd name="adj" fmla="val 3911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2245" y="2249424"/>
            <a:ext cx="1695909" cy="109574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1792" y="2322576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0F172A">
              <a:alpha val="8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621792" y="232257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00:00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48640" y="3473183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FORWARD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48640" y="3747503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L207 · C191 · R207mm — 전 구역 정상</a:t>
            </a:r>
            <a:endParaRPr lang="en-US" sz="960" dirty="0"/>
          </a:p>
        </p:txBody>
      </p:sp>
      <p:sp>
        <p:nvSpPr>
          <p:cNvPr id="12" name="Text 9"/>
          <p:cNvSpPr/>
          <p:nvPr/>
        </p:nvSpPr>
        <p:spPr>
          <a:xfrm>
            <a:off x="2656332" y="2632704"/>
            <a:ext cx="1325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756916" y="2212848"/>
            <a:ext cx="2176272" cy="1168895"/>
          </a:xfrm>
          <a:prstGeom prst="roundRect">
            <a:avLst>
              <a:gd name="adj" fmla="val 3911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960224" y="2249424"/>
            <a:ext cx="1769655" cy="1095743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866644" y="2322576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0F172A">
              <a:alpha val="8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/>
          <p:nvPr/>
        </p:nvSpPr>
        <p:spPr>
          <a:xfrm>
            <a:off x="2866644" y="232257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00:12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2793492" y="3473183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2~3. STOP→REVERSE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2793492" y="3747503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x≥3.3m 도달, 정지 후 후진 시작</a:t>
            </a:r>
            <a:endParaRPr lang="en-US" sz="960" dirty="0"/>
          </a:p>
        </p:txBody>
      </p:sp>
      <p:sp>
        <p:nvSpPr>
          <p:cNvPr id="19" name="Text 15"/>
          <p:cNvSpPr/>
          <p:nvPr/>
        </p:nvSpPr>
        <p:spPr>
          <a:xfrm>
            <a:off x="4901184" y="2632704"/>
            <a:ext cx="1325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5001768" y="2212848"/>
            <a:ext cx="2176272" cy="1168895"/>
          </a:xfrm>
          <a:prstGeom prst="roundRect">
            <a:avLst>
              <a:gd name="adj" fmla="val 3911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2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182901" y="2249424"/>
            <a:ext cx="1814005" cy="1095743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5111496" y="2322576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0F172A">
              <a:alpha val="8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/>
          <p:cNvSpPr/>
          <p:nvPr/>
        </p:nvSpPr>
        <p:spPr>
          <a:xfrm>
            <a:off x="5111496" y="232257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00:17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5038344" y="3473183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TO_BYPASS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5038344" y="3747503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좌회전 후 우회 복도 진입 (y→1.8m)</a:t>
            </a:r>
            <a:endParaRPr lang="en-US" sz="960" dirty="0"/>
          </a:p>
        </p:txBody>
      </p:sp>
      <p:sp>
        <p:nvSpPr>
          <p:cNvPr id="26" name="Text 21"/>
          <p:cNvSpPr/>
          <p:nvPr/>
        </p:nvSpPr>
        <p:spPr>
          <a:xfrm>
            <a:off x="7146036" y="2632704"/>
            <a:ext cx="1325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7246620" y="2212848"/>
            <a:ext cx="2176272" cy="1168895"/>
          </a:xfrm>
          <a:prstGeom prst="roundRect">
            <a:avLst>
              <a:gd name="adj" fmla="val 3911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3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451339" y="2249424"/>
            <a:ext cx="1766834" cy="1095743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7356348" y="2322576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0F172A">
              <a:alpha val="8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4"/>
          <p:cNvSpPr/>
          <p:nvPr/>
        </p:nvSpPr>
        <p:spPr>
          <a:xfrm>
            <a:off x="7356348" y="232257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00:27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7283196" y="3473183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DESCEND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7283196" y="3747503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정면 재정렬 후 램프 하강 중</a:t>
            </a:r>
            <a:endParaRPr lang="en-US" sz="960" dirty="0"/>
          </a:p>
        </p:txBody>
      </p:sp>
      <p:sp>
        <p:nvSpPr>
          <p:cNvPr id="33" name="Text 27"/>
          <p:cNvSpPr/>
          <p:nvPr/>
        </p:nvSpPr>
        <p:spPr>
          <a:xfrm>
            <a:off x="9390888" y="2632704"/>
            <a:ext cx="1325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28"/>
          <p:cNvSpPr/>
          <p:nvPr/>
        </p:nvSpPr>
        <p:spPr>
          <a:xfrm>
            <a:off x="9491472" y="2212848"/>
            <a:ext cx="2176272" cy="1168895"/>
          </a:xfrm>
          <a:prstGeom prst="roundRect">
            <a:avLst>
              <a:gd name="adj" fmla="val 3911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4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9669274" y="2249424"/>
            <a:ext cx="1820667" cy="1095743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9601200" y="2322576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0F172A">
              <a:alpha val="88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0"/>
          <p:cNvSpPr/>
          <p:nvPr/>
        </p:nvSpPr>
        <p:spPr>
          <a:xfrm>
            <a:off x="9601200" y="232257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00:38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9528048" y="3473183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DONE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9528048" y="3747503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6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x=6.0m 통과, 전 구역 정상 복귀</a:t>
            </a:r>
            <a:endParaRPr lang="en-US" sz="960" dirty="0"/>
          </a:p>
        </p:txBody>
      </p:sp>
      <p:sp>
        <p:nvSpPr>
          <p:cNvPr id="40" name="Text 33"/>
          <p:cNvSpPr/>
          <p:nvPr/>
        </p:nvSpPr>
        <p:spPr>
          <a:xfrm>
            <a:off x="548640" y="474573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 ·  00:00 → 00:38</a:t>
            </a:r>
            <a:endParaRPr lang="en-US" sz="1100" dirty="0"/>
          </a:p>
        </p:txBody>
      </p:sp>
      <p:sp>
        <p:nvSpPr>
          <p:cNvPr id="41" name="Shape 34"/>
          <p:cNvSpPr/>
          <p:nvPr/>
        </p:nvSpPr>
        <p:spPr>
          <a:xfrm>
            <a:off x="640080" y="5074920"/>
            <a:ext cx="10908792" cy="0"/>
          </a:xfrm>
          <a:prstGeom prst="line">
            <a:avLst/>
          </a:prstGeom>
          <a:noFill/>
          <a:ln w="317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35"/>
          <p:cNvSpPr/>
          <p:nvPr/>
        </p:nvSpPr>
        <p:spPr>
          <a:xfrm>
            <a:off x="571500" y="5006340"/>
            <a:ext cx="137160" cy="137160"/>
          </a:xfrm>
          <a:prstGeom prst="ellipse">
            <a:avLst/>
          </a:prstGeom>
          <a:solidFill>
            <a:srgbClr val="10B98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6"/>
          <p:cNvSpPr/>
          <p:nvPr/>
        </p:nvSpPr>
        <p:spPr>
          <a:xfrm>
            <a:off x="274320" y="518464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00:00</a:t>
            </a:r>
            <a:endParaRPr lang="en-US" sz="950" dirty="0"/>
          </a:p>
        </p:txBody>
      </p:sp>
      <p:sp>
        <p:nvSpPr>
          <p:cNvPr id="44" name="Shape 37"/>
          <p:cNvSpPr/>
          <p:nvPr/>
        </p:nvSpPr>
        <p:spPr>
          <a:xfrm>
            <a:off x="4016382" y="5006340"/>
            <a:ext cx="137160" cy="137160"/>
          </a:xfrm>
          <a:prstGeom prst="ellipse">
            <a:avLst/>
          </a:prstGeom>
          <a:solidFill>
            <a:srgbClr val="F59E0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38"/>
          <p:cNvSpPr/>
          <p:nvPr/>
        </p:nvSpPr>
        <p:spPr>
          <a:xfrm>
            <a:off x="3719202" y="518464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00:12</a:t>
            </a:r>
            <a:endParaRPr lang="en-US" sz="950" dirty="0"/>
          </a:p>
        </p:txBody>
      </p:sp>
      <p:sp>
        <p:nvSpPr>
          <p:cNvPr id="46" name="Shape 39"/>
          <p:cNvSpPr/>
          <p:nvPr/>
        </p:nvSpPr>
        <p:spPr>
          <a:xfrm>
            <a:off x="5451749" y="5006340"/>
            <a:ext cx="137160" cy="137160"/>
          </a:xfrm>
          <a:prstGeom prst="ellipse">
            <a:avLst/>
          </a:prstGeom>
          <a:solidFill>
            <a:srgbClr val="3B82F6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0"/>
          <p:cNvSpPr/>
          <p:nvPr/>
        </p:nvSpPr>
        <p:spPr>
          <a:xfrm>
            <a:off x="5154569" y="518464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00:17</a:t>
            </a:r>
            <a:endParaRPr lang="en-US" sz="950" dirty="0"/>
          </a:p>
        </p:txBody>
      </p:sp>
      <p:sp>
        <p:nvSpPr>
          <p:cNvPr id="48" name="Shape 41"/>
          <p:cNvSpPr/>
          <p:nvPr/>
        </p:nvSpPr>
        <p:spPr>
          <a:xfrm>
            <a:off x="8322484" y="5006340"/>
            <a:ext cx="137160" cy="137160"/>
          </a:xfrm>
          <a:prstGeom prst="ellipse">
            <a:avLst/>
          </a:prstGeom>
          <a:solidFill>
            <a:srgbClr val="10B981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2"/>
          <p:cNvSpPr/>
          <p:nvPr/>
        </p:nvSpPr>
        <p:spPr>
          <a:xfrm>
            <a:off x="8025304" y="518464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00:27</a:t>
            </a:r>
            <a:endParaRPr lang="en-US" sz="950" dirty="0"/>
          </a:p>
        </p:txBody>
      </p:sp>
      <p:sp>
        <p:nvSpPr>
          <p:cNvPr id="50" name="Shape 43"/>
          <p:cNvSpPr/>
          <p:nvPr/>
        </p:nvSpPr>
        <p:spPr>
          <a:xfrm>
            <a:off x="11480292" y="5006340"/>
            <a:ext cx="137160" cy="137160"/>
          </a:xfrm>
          <a:prstGeom prst="ellipse">
            <a:avLst/>
          </a:prstGeom>
          <a:solidFill>
            <a:srgbClr val="0F172A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4"/>
          <p:cNvSpPr/>
          <p:nvPr/>
        </p:nvSpPr>
        <p:spPr>
          <a:xfrm>
            <a:off x="11183112" y="518464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00:38</a:t>
            </a:r>
            <a:endParaRPr lang="en-US" sz="950" dirty="0"/>
          </a:p>
        </p:txBody>
      </p:sp>
      <p:sp>
        <p:nvSpPr>
          <p:cNvPr id="52" name="Shape 45"/>
          <p:cNvSpPr/>
          <p:nvPr/>
        </p:nvSpPr>
        <p:spPr>
          <a:xfrm>
            <a:off x="548640" y="5504688"/>
            <a:ext cx="2103120" cy="512064"/>
          </a:xfrm>
          <a:prstGeom prst="roundRect">
            <a:avLst>
              <a:gd name="adj" fmla="val 8929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46"/>
          <p:cNvSpPr/>
          <p:nvPr/>
        </p:nvSpPr>
        <p:spPr>
          <a:xfrm>
            <a:off x="658368" y="5550408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 (0.40, 0.00)</a:t>
            </a:r>
            <a:endParaRPr lang="en-US" sz="900" dirty="0"/>
          </a:p>
        </p:txBody>
      </p:sp>
      <p:sp>
        <p:nvSpPr>
          <p:cNvPr id="54" name="Text 47"/>
          <p:cNvSpPr/>
          <p:nvPr/>
        </p:nvSpPr>
        <p:spPr>
          <a:xfrm>
            <a:off x="658368" y="5779008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v=+0.20 m/s</a:t>
            </a:r>
            <a:endParaRPr lang="en-US" sz="850" dirty="0"/>
          </a:p>
        </p:txBody>
      </p:sp>
      <p:sp>
        <p:nvSpPr>
          <p:cNvPr id="55" name="Shape 48"/>
          <p:cNvSpPr/>
          <p:nvPr/>
        </p:nvSpPr>
        <p:spPr>
          <a:xfrm>
            <a:off x="2793492" y="5504688"/>
            <a:ext cx="2103120" cy="512064"/>
          </a:xfrm>
          <a:prstGeom prst="roundRect">
            <a:avLst>
              <a:gd name="adj" fmla="val 8929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Text 49"/>
          <p:cNvSpPr/>
          <p:nvPr/>
        </p:nvSpPr>
        <p:spPr>
          <a:xfrm>
            <a:off x="2903220" y="5550408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 (3.30, −0.01)</a:t>
            </a:r>
            <a:endParaRPr lang="en-US" sz="900" dirty="0"/>
          </a:p>
        </p:txBody>
      </p:sp>
      <p:sp>
        <p:nvSpPr>
          <p:cNvPr id="57" name="Text 50"/>
          <p:cNvSpPr/>
          <p:nvPr/>
        </p:nvSpPr>
        <p:spPr>
          <a:xfrm>
            <a:off x="2903220" y="5779008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v=−0.10 m/s</a:t>
            </a:r>
            <a:endParaRPr lang="en-US" sz="850" dirty="0"/>
          </a:p>
        </p:txBody>
      </p:sp>
      <p:sp>
        <p:nvSpPr>
          <p:cNvPr id="58" name="Shape 51"/>
          <p:cNvSpPr/>
          <p:nvPr/>
        </p:nvSpPr>
        <p:spPr>
          <a:xfrm>
            <a:off x="5038344" y="5504688"/>
            <a:ext cx="2103120" cy="512064"/>
          </a:xfrm>
          <a:prstGeom prst="roundRect">
            <a:avLst>
              <a:gd name="adj" fmla="val 8929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Text 52"/>
          <p:cNvSpPr/>
          <p:nvPr/>
        </p:nvSpPr>
        <p:spPr>
          <a:xfrm>
            <a:off x="5148072" y="5550408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y: 0.30 → 1.64 m</a:t>
            </a:r>
            <a:endParaRPr lang="en-US" sz="900" dirty="0"/>
          </a:p>
        </p:txBody>
      </p:sp>
      <p:sp>
        <p:nvSpPr>
          <p:cNvPr id="60" name="Text 53"/>
          <p:cNvSpPr/>
          <p:nvPr/>
        </p:nvSpPr>
        <p:spPr>
          <a:xfrm>
            <a:off x="5148072" y="5779008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좌회전 정렬중</a:t>
            </a:r>
            <a:endParaRPr lang="en-US" sz="850" dirty="0"/>
          </a:p>
        </p:txBody>
      </p:sp>
      <p:sp>
        <p:nvSpPr>
          <p:cNvPr id="61" name="Shape 54"/>
          <p:cNvSpPr/>
          <p:nvPr/>
        </p:nvSpPr>
        <p:spPr>
          <a:xfrm>
            <a:off x="7283196" y="5504688"/>
            <a:ext cx="2103120" cy="512064"/>
          </a:xfrm>
          <a:prstGeom prst="roundRect">
            <a:avLst>
              <a:gd name="adj" fmla="val 8929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Text 55"/>
          <p:cNvSpPr/>
          <p:nvPr/>
        </p:nvSpPr>
        <p:spPr>
          <a:xfrm>
            <a:off x="7392924" y="5550408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 (3.20, 1.81)</a:t>
            </a:r>
            <a:endParaRPr lang="en-US" sz="900" dirty="0"/>
          </a:p>
        </p:txBody>
      </p:sp>
      <p:sp>
        <p:nvSpPr>
          <p:cNvPr id="63" name="Text 56"/>
          <p:cNvSpPr/>
          <p:nvPr/>
        </p:nvSpPr>
        <p:spPr>
          <a:xfrm>
            <a:off x="7392924" y="5779008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→ 5.27 m</a:t>
            </a:r>
            <a:endParaRPr lang="en-US" sz="850" dirty="0"/>
          </a:p>
        </p:txBody>
      </p:sp>
      <p:sp>
        <p:nvSpPr>
          <p:cNvPr id="64" name="Shape 57"/>
          <p:cNvSpPr/>
          <p:nvPr/>
        </p:nvSpPr>
        <p:spPr>
          <a:xfrm>
            <a:off x="9528048" y="5504688"/>
            <a:ext cx="2103120" cy="512064"/>
          </a:xfrm>
          <a:prstGeom prst="roundRect">
            <a:avLst>
              <a:gd name="adj" fmla="val 8929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58"/>
          <p:cNvSpPr/>
          <p:nvPr/>
        </p:nvSpPr>
        <p:spPr>
          <a:xfrm>
            <a:off x="9637776" y="5550408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 (6.00, 1.81)</a:t>
            </a:r>
            <a:endParaRPr lang="en-US" sz="900" dirty="0"/>
          </a:p>
        </p:txBody>
      </p:sp>
      <p:sp>
        <p:nvSpPr>
          <p:cNvPr id="66" name="Text 59"/>
          <p:cNvSpPr/>
          <p:nvPr/>
        </p:nvSpPr>
        <p:spPr>
          <a:xfrm>
            <a:off x="9637776" y="5779008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완주</a:t>
            </a:r>
            <a:endParaRPr lang="en-US" sz="850" dirty="0"/>
          </a:p>
        </p:txBody>
      </p:sp>
      <p:sp>
        <p:nvSpPr>
          <p:cNvPr id="67" name="Text 60"/>
          <p:cNvSpPr/>
          <p:nvPr/>
        </p:nvSpPr>
        <p:spPr>
          <a:xfrm>
            <a:off x="548640" y="619963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Isaac Sim 시뮬레이션 녹화 영상에서 캡처 · HUD 수치와 콘솔 로그가 일치함을 프레임별로 교차 검증함.</a:t>
            </a:r>
            <a:endParaRPr lang="en-US" sz="1000" dirty="0"/>
          </a:p>
        </p:txBody>
      </p:sp>
      <p:sp>
        <p:nvSpPr>
          <p:cNvPr id="68" name="Text 6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 Test Verification</a:t>
            </a:r>
            <a:endParaRPr lang="en-US" sz="950" dirty="0"/>
          </a:p>
        </p:txBody>
      </p:sp>
      <p:sp>
        <p:nvSpPr>
          <p:cNvPr id="69" name="Text 62"/>
          <p:cNvSpPr/>
          <p:nvPr/>
        </p:nvSpPr>
        <p:spPr>
          <a:xfrm>
            <a:off x="1082009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50" dirty="0"/>
          </a:p>
        </p:txBody>
      </p:sp>
      <p:sp>
        <p:nvSpPr>
          <p:cNvPr id="70" name="Text 63"/>
          <p:cNvSpPr/>
          <p:nvPr/>
        </p:nvSpPr>
        <p:spPr>
          <a:xfrm>
            <a:off x="3809848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ToF 낙상 감지 휠체어 내비게이션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66783" y="594360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0B981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750247" y="594360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0B981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10033711" y="594360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0B981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0317175" y="594360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0B981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0600639" y="594360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0B981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0884103" y="594360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0B981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1167567" y="594360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0B981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1451031" y="594360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0B981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9466783" y="877824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0B981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9750247" y="877824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0B981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10033711" y="877824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0B981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10317175" y="877824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0B981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0600639" y="877824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0B981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0884103" y="877824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0B981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11167567" y="877824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0B981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11451031" y="877824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0B981">
              <a:alpha val="3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9466783" y="1161288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9750247" y="1161288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0033711" y="1161288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10317175" y="1161288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10600639" y="1161288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10884103" y="1161288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11167567" y="1161288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3"/>
          <p:cNvSpPr/>
          <p:nvPr/>
        </p:nvSpPr>
        <p:spPr>
          <a:xfrm>
            <a:off x="11451031" y="1161288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4"/>
          <p:cNvSpPr/>
          <p:nvPr/>
        </p:nvSpPr>
        <p:spPr>
          <a:xfrm>
            <a:off x="9466783" y="1444752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5"/>
          <p:cNvSpPr/>
          <p:nvPr/>
        </p:nvSpPr>
        <p:spPr>
          <a:xfrm>
            <a:off x="9750247" y="1444752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10033711" y="1444752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10317175" y="1444752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10600639" y="1444752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0884103" y="1444752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1167567" y="1444752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31"/>
          <p:cNvSpPr/>
          <p:nvPr/>
        </p:nvSpPr>
        <p:spPr>
          <a:xfrm>
            <a:off x="11451031" y="1444752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32"/>
          <p:cNvSpPr/>
          <p:nvPr/>
        </p:nvSpPr>
        <p:spPr>
          <a:xfrm>
            <a:off x="9466783" y="1728216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9750247" y="1728216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10033711" y="1728216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10317175" y="1728216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10600639" y="1728216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10884103" y="1728216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11167567" y="1728216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9"/>
          <p:cNvSpPr/>
          <p:nvPr/>
        </p:nvSpPr>
        <p:spPr>
          <a:xfrm>
            <a:off x="11451031" y="1728216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9466783" y="2011680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9750247" y="2011680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10033711" y="2011680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43"/>
          <p:cNvSpPr/>
          <p:nvPr/>
        </p:nvSpPr>
        <p:spPr>
          <a:xfrm>
            <a:off x="10317175" y="2011680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6" name="Shape 44"/>
          <p:cNvSpPr/>
          <p:nvPr/>
        </p:nvSpPr>
        <p:spPr>
          <a:xfrm>
            <a:off x="10600639" y="2011680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Shape 45"/>
          <p:cNvSpPr/>
          <p:nvPr/>
        </p:nvSpPr>
        <p:spPr>
          <a:xfrm>
            <a:off x="10884103" y="2011680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11167567" y="2011680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11451031" y="2011680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9466783" y="2295144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9"/>
          <p:cNvSpPr/>
          <p:nvPr/>
        </p:nvSpPr>
        <p:spPr>
          <a:xfrm>
            <a:off x="9750247" y="2295144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50"/>
          <p:cNvSpPr/>
          <p:nvPr/>
        </p:nvSpPr>
        <p:spPr>
          <a:xfrm>
            <a:off x="10033711" y="2295144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51"/>
          <p:cNvSpPr/>
          <p:nvPr/>
        </p:nvSpPr>
        <p:spPr>
          <a:xfrm>
            <a:off x="10317175" y="2295144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10600639" y="2295144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10884103" y="2295144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11167567" y="2295144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11451031" y="2295144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9466783" y="2578608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9750247" y="2578608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10033711" y="2578608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59"/>
          <p:cNvSpPr/>
          <p:nvPr/>
        </p:nvSpPr>
        <p:spPr>
          <a:xfrm>
            <a:off x="10317175" y="2578608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2" name="Shape 60"/>
          <p:cNvSpPr/>
          <p:nvPr/>
        </p:nvSpPr>
        <p:spPr>
          <a:xfrm>
            <a:off x="10600639" y="2578608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3" name="Shape 61"/>
          <p:cNvSpPr/>
          <p:nvPr/>
        </p:nvSpPr>
        <p:spPr>
          <a:xfrm>
            <a:off x="10884103" y="2578608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62"/>
          <p:cNvSpPr/>
          <p:nvPr/>
        </p:nvSpPr>
        <p:spPr>
          <a:xfrm>
            <a:off x="11167567" y="2578608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63"/>
          <p:cNvSpPr/>
          <p:nvPr/>
        </p:nvSpPr>
        <p:spPr>
          <a:xfrm>
            <a:off x="11451031" y="2578608"/>
            <a:ext cx="237744" cy="237744"/>
          </a:xfrm>
          <a:prstGeom prst="roundRect">
            <a:avLst>
              <a:gd name="adj" fmla="val 13462"/>
            </a:avLst>
          </a:prstGeom>
          <a:solidFill>
            <a:srgbClr val="1E293B">
              <a:alpha val="45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CONCLUSION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530352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 및 향후 계획</a:t>
            </a:r>
            <a:endParaRPr lang="en-US" sz="3000" dirty="0"/>
          </a:p>
        </p:txBody>
      </p:sp>
      <p:sp>
        <p:nvSpPr>
          <p:cNvPr id="68" name="Text 66"/>
          <p:cNvSpPr/>
          <p:nvPr/>
        </p:nvSpPr>
        <p:spPr>
          <a:xfrm>
            <a:off x="548640" y="16002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요약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548640" y="1956816"/>
            <a:ext cx="5943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2000"/>
              </a:lnSpc>
              <a:spcAft>
                <a:spcPts val="800"/>
              </a:spcAft>
              <a:buSzPct val="100000"/>
              <a:buChar char="•"/>
            </a:pPr>
            <a:r>
              <a:rPr lang="en-US" sz="123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VL53L8CX 8×8 ToF 전방 45° 장착으로 계단·낙차를 사전 감지하는 시뮬레이션을 Isaac Sim에서 구현</a:t>
            </a:r>
            <a:endParaRPr lang="en-US" sz="1230" dirty="0"/>
          </a:p>
          <a:p>
            <a:pPr marL="342900" indent="-342900">
              <a:lnSpc>
                <a:spcPct val="132000"/>
              </a:lnSpc>
              <a:spcAft>
                <a:spcPts val="800"/>
              </a:spcAft>
              <a:buSzPct val="100000"/>
              <a:buChar char="•"/>
            </a:pPr>
            <a:r>
              <a:rPr lang="en-US" sz="123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Ratio + Baseline EMA 기반 판정 로직으로 오탐지·오인식 최소화</a:t>
            </a:r>
            <a:endParaRPr lang="en-US" sz="1230" dirty="0"/>
          </a:p>
          <a:p>
            <a:pPr marL="342900" indent="-342900">
              <a:lnSpc>
                <a:spcPct val="132000"/>
              </a:lnSpc>
              <a:spcAft>
                <a:spcPts val="800"/>
              </a:spcAft>
              <a:buSzPct val="100000"/>
              <a:buChar char="•"/>
            </a:pPr>
            <a:r>
              <a:rPr lang="en-US" sz="123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8단계 상태머신이 정지→후진→우회→하강까지 38초 내 완주 성공</a:t>
            </a:r>
            <a:endParaRPr lang="en-US" sz="1230" dirty="0"/>
          </a:p>
          <a:p>
            <a:pPr marL="342900" indent="-342900">
              <a:lnSpc>
                <a:spcPct val="132000"/>
              </a:lnSpc>
              <a:spcAft>
                <a:spcPts val="800"/>
              </a:spcAft>
              <a:buSzPct val="100000"/>
              <a:buChar char="•"/>
            </a:pPr>
            <a:r>
              <a:rPr lang="en-US" sz="123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HUD(영어) / 콘솔(한글) 이중 로깅으로 시각화와 디버깅을 모두 확보</a:t>
            </a:r>
            <a:endParaRPr lang="en-US" sz="1230" dirty="0"/>
          </a:p>
        </p:txBody>
      </p:sp>
      <p:sp>
        <p:nvSpPr>
          <p:cNvPr id="70" name="Text 68"/>
          <p:cNvSpPr/>
          <p:nvPr/>
        </p:nvSpPr>
        <p:spPr>
          <a:xfrm>
            <a:off x="548640" y="41605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계획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548640" y="4517136"/>
            <a:ext cx="5943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2000"/>
              </a:lnSpc>
              <a:spcAft>
                <a:spcPts val="800"/>
              </a:spcAft>
              <a:buSzPct val="100000"/>
              <a:buChar char="•"/>
            </a:pPr>
            <a:r>
              <a:rPr lang="en-US" sz="123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VL53L8CX + RP2350 → Raspberry Pi 5 하드웨어 체인 연동 검증</a:t>
            </a:r>
            <a:endParaRPr lang="en-US" sz="1230" dirty="0"/>
          </a:p>
          <a:p>
            <a:pPr marL="342900" indent="-342900">
              <a:lnSpc>
                <a:spcPct val="132000"/>
              </a:lnSpc>
              <a:spcAft>
                <a:spcPts val="800"/>
              </a:spcAft>
              <a:buSzPct val="100000"/>
              <a:buChar char="•"/>
            </a:pPr>
            <a:r>
              <a:rPr lang="en-US" sz="123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다양한 지형·계단 형상에 대한 추가 테스트 케이스 확보</a:t>
            </a:r>
            <a:endParaRPr lang="en-US" sz="1230" dirty="0"/>
          </a:p>
          <a:p>
            <a:pPr marL="342900" indent="-342900">
              <a:lnSpc>
                <a:spcPct val="132000"/>
              </a:lnSpc>
              <a:spcAft>
                <a:spcPts val="800"/>
              </a:spcAft>
              <a:buSzPct val="100000"/>
              <a:buChar char="•"/>
            </a:pPr>
            <a:r>
              <a:rPr lang="en-US" sz="123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조명·반사도 등 실환경 노이즈 영향 검증</a:t>
            </a:r>
            <a:endParaRPr lang="en-US" sz="1230" dirty="0"/>
          </a:p>
          <a:p>
            <a:pPr marL="342900" indent="-342900">
              <a:lnSpc>
                <a:spcPct val="132000"/>
              </a:lnSpc>
              <a:spcAft>
                <a:spcPts val="800"/>
              </a:spcAft>
              <a:buSzPct val="100000"/>
              <a:buChar char="•"/>
            </a:pPr>
            <a:r>
              <a:rPr lang="en-US" sz="123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휠체어 플랫폼 이식 및 주행 안전성 평가</a:t>
            </a:r>
            <a:endParaRPr lang="en-US" sz="1230" dirty="0"/>
          </a:p>
        </p:txBody>
      </p:sp>
      <p:sp>
        <p:nvSpPr>
          <p:cNvPr id="72" name="Shape 70"/>
          <p:cNvSpPr/>
          <p:nvPr/>
        </p:nvSpPr>
        <p:spPr>
          <a:xfrm>
            <a:off x="7178040" y="2286000"/>
            <a:ext cx="4206240" cy="3291840"/>
          </a:xfrm>
          <a:prstGeom prst="roundRect">
            <a:avLst>
              <a:gd name="adj" fmla="val 2778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3" name="Text 71"/>
          <p:cNvSpPr/>
          <p:nvPr/>
        </p:nvSpPr>
        <p:spPr>
          <a:xfrm>
            <a:off x="7178040" y="25420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7178040" y="274320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6400" dirty="0"/>
          </a:p>
        </p:txBody>
      </p:sp>
      <p:sp>
        <p:nvSpPr>
          <p:cNvPr id="75" name="Text 73"/>
          <p:cNvSpPr/>
          <p:nvPr/>
        </p:nvSpPr>
        <p:spPr>
          <a:xfrm>
            <a:off x="7178040" y="38039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 만에 절벽 회피·우회·하강 성공</a:t>
            </a:r>
            <a:endParaRPr lang="en-US" sz="1250" dirty="0"/>
          </a:p>
        </p:txBody>
      </p:sp>
      <p:sp>
        <p:nvSpPr>
          <p:cNvPr id="76" name="Shape 74"/>
          <p:cNvSpPr/>
          <p:nvPr/>
        </p:nvSpPr>
        <p:spPr>
          <a:xfrm>
            <a:off x="7635240" y="4370832"/>
            <a:ext cx="32918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5"/>
          <p:cNvSpPr/>
          <p:nvPr/>
        </p:nvSpPr>
        <p:spPr>
          <a:xfrm>
            <a:off x="7178040" y="4526280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200" dirty="0"/>
          </a:p>
        </p:txBody>
      </p:sp>
      <p:sp>
        <p:nvSpPr>
          <p:cNvPr id="78" name="Text 76"/>
          <p:cNvSpPr/>
          <p:nvPr/>
        </p:nvSpPr>
        <p:spPr>
          <a:xfrm>
            <a:off x="7178040" y="4983480"/>
            <a:ext cx="140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 이벤트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8580120" y="4526280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80" name="Text 78"/>
          <p:cNvSpPr/>
          <p:nvPr/>
        </p:nvSpPr>
        <p:spPr>
          <a:xfrm>
            <a:off x="8580120" y="4983480"/>
            <a:ext cx="140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단계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9982200" y="4526280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2200" dirty="0"/>
          </a:p>
        </p:txBody>
      </p:sp>
      <p:sp>
        <p:nvSpPr>
          <p:cNvPr id="82" name="Text 80"/>
          <p:cNvSpPr/>
          <p:nvPr/>
        </p:nvSpPr>
        <p:spPr>
          <a:xfrm>
            <a:off x="9982200" y="4983480"/>
            <a:ext cx="140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ToF 포인트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2101091 최윤식  ·  군산대학교 임베디드소프트웨어공학과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1402</Words>
  <Application>Microsoft Office PowerPoint</Application>
  <PresentationFormat>와이드스크린</PresentationFormat>
  <Paragraphs>245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VL53L8CX 8x8 ToF 낙상 감지 휠체어 내비게이션</dc:title>
  <dc:subject>PptxGenJS Presentation</dc:subject>
  <dc:creator>최윤식</dc:creator>
  <cp:lastModifiedBy>최윤식</cp:lastModifiedBy>
  <cp:revision>2</cp:revision>
  <dcterms:created xsi:type="dcterms:W3CDTF">2026-06-20T05:16:26Z</dcterms:created>
  <dcterms:modified xsi:type="dcterms:W3CDTF">2026-06-20T05:42:36Z</dcterms:modified>
</cp:coreProperties>
</file>